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33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219456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6B9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StorageVault Canada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35331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Storage MVP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84048" y="2293620"/>
            <a:ext cx="32004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359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intake  ·  Container Request  ·  Custom Metadata pricing  ·  Apex automation  ·  Lead Convert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960120"/>
            <a:ext cx="1481328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149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Intake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527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runs Lead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screen flow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1952" y="146304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194560" y="960120"/>
            <a:ext cx="148132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0149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Request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527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auto-creates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CR on Lead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12464" y="146304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005072" y="960120"/>
            <a:ext cx="1481328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05072" y="10149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05072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5072" y="1527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assigns inventory;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from metadata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22976" y="146304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815584" y="960120"/>
            <a:ext cx="1481328" cy="1005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15584" y="10149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15584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15584" y="1527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marks status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33488" y="146304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626096" y="960120"/>
            <a:ext cx="1481328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26096" y="101498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26096" y="1234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26096" y="152704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converts Lead;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Closed Won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2148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 collects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Name, Company,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94560" y="2148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Inquiry Type =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'Portable Storage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Inquiry' → CR inserted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05072" y="2148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Quote flow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Send Quote flow;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sets quote amount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15584" y="2148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location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valid before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can progress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26096" y="21488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converts Lead,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Opportunity__c,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Closed Won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" y="3154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Screen Flow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 portableStorage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LeadIntake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94560" y="3154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Apex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LeadPortableStorage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(trigger)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05072" y="3154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Screen Flows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Container_Pricing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__mdt metadata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15584" y="3154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Apex before-save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validateServiceArea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validateInventory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26096" y="3154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Apex after-save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Database.convertLead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syncOpportunities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" y="31272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901952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01952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 (Standard)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08176"/>
            <a:ext cx="190195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63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Inquiry_Type__c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Requested_Container_Type__c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Preferred_Delivery_Date__c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29000" y="932688"/>
            <a:ext cx="22860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932688"/>
            <a:ext cx="22860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9326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Container_Request__c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243584"/>
            <a:ext cx="2286000" cy="106070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Status__c  (Draft / Quoted / Accepted)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38728" y="1508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Container_Type__c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38728" y="17190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Quote_Amount__c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38728" y="19293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Requested_Delivery_Date__c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38728" y="2139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Rental_End_Date__c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67728" y="1097280"/>
            <a:ext cx="1901952" cy="102412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67728" y="1097280"/>
            <a:ext cx="1901952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0972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 (Standard)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67728" y="1408176"/>
            <a:ext cx="190195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77456" y="146304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Primary_Container_Request__c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77456" y="167335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Delivery_Address__c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77456" y="188366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Selected_Container__c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547872"/>
            <a:ext cx="1901952" cy="8686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547872"/>
            <a:ext cx="1901952" cy="31089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Service_Location__c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1901952" cy="5577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1363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Street, City, Province, Postal Code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048" y="41239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In_Service_Area__c  (Boolean)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3547872"/>
            <a:ext cx="2286000" cy="8686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29000" y="3547872"/>
            <a:ext cx="2286000" cy="31089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35478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Container_Pricing__mdt  (Metadata)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3858768"/>
            <a:ext cx="2286000" cy="5577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3913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Container_Type__c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38728" y="41239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Base_Price__c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67728" y="3547872"/>
            <a:ext cx="1901952" cy="8686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67728" y="3547872"/>
            <a:ext cx="1901952" cy="310896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354787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Container_Inventory__c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67728" y="3858768"/>
            <a:ext cx="1901952" cy="5577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77456" y="391363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Container_Number__c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77456" y="412394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Container_Type__c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77456" y="433425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Status__c  (Available / Booked)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76272" y="1618488"/>
            <a:ext cx="12527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138988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Lead__c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15000" y="1618488"/>
            <a:ext cx="12527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138988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Opportunity__c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60720" y="165506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Primary_Container_Request__c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794760" y="2304288"/>
            <a:ext cx="0" cy="6035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25296" y="2907792"/>
            <a:ext cx="25694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25296" y="2907792"/>
            <a:ext cx="0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0" y="2706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Service_Location__c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349240" y="2304288"/>
            <a:ext cx="0" cy="6035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9240" y="2907792"/>
            <a:ext cx="256946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18704" y="2907792"/>
            <a:ext cx="0" cy="6400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22977" y="26929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Container_Inventory__c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572000" y="2304288"/>
            <a:ext cx="0" cy="1243584"/>
          </a:xfrm>
          <a:prstGeom prst="line">
            <a:avLst/>
          </a:prstGeom>
          <a:noFill/>
          <a:ln w="12700">
            <a:solidFill>
              <a:srgbClr val="94A3B8"/>
            </a:solidFill>
            <a:prstDash val="lgDash"/>
          </a:ln>
        </p:spPr>
      </p:sp>
      <p:sp>
        <p:nvSpPr>
          <p:cNvPr id="60" name="Text 58"/>
          <p:cNvSpPr/>
          <p:nvPr/>
        </p:nvSpPr>
        <p:spPr>
          <a:xfrm>
            <a:off x="3529584" y="32552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Quote_Amount__c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connections are Salesforce lookup fields on Container_Request__c except Primary_Container_Request__c which lives on Opportunity.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Guardrails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Chain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97764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70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 — after insert / after update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426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LeadPortableStorageService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Inquiry_Type__c = 'Portable Storage Inquiry'. Inserts a Container_Request__c (Draft) with container type + delivery date copied from the Lead. Guards against duplicates; bulkified.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97764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68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Container_Request__c  — before insert / before update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2724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ContainerRequestDomain · beforeSave()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" y="2926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Sets Rental_End_Date__c = Delivery + 30 days if blank.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Looks up Container_Pricing__mdt and writes Quote_Amount__c.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Blocks save if Service_Location__c.In_Service_Area__c is false (Quoted/Accepted/Scheduled).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Blocks save if inventory date range overlaps an existing booking.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3977640" cy="237744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767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Container_Request__c  — after insert / after update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ContainerRequestDomain · afterSave()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2245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Status → Accepted (with Lead, no Opportunity):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Database.convertLead() → creates Contact, Account, Opportunity.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Opportunity__c on the request.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Opportunity Stage = Closed Won and Primary_Container_Request__c.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45152" y="822960"/>
            <a:ext cx="0" cy="4160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841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170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389888"/>
            <a:ext cx="10058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898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46320" y="15910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Intake flow conditionally requires Container Type and Preferred Delivery Date only when Inquiry Type = Portable Storage Inquiry. Other inquiry types proceed without those fields.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2139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check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359152"/>
            <a:ext cx="10058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3591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before-save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46320" y="2560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validateServiceArea() queries Service_Location__c.In_Service_Area__c. Any request in Quoted / Accepted / Scheduled referencing an out-of-area location is blocked at the DML layer.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overlap check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328416"/>
            <a:ext cx="10058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284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before-save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46320" y="35295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validateInventoryAvailability() checks date ranges (Requested Delivery → Rental End) against all existing blocking-status requests for the same Container_Inventory__c — including same-batch records.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Container Requests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4297680"/>
            <a:ext cx="10058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97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after-insert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6320" y="4498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LeadPortableStorageService queries for existing Container Requests on the Lead before inserting, preventing duplicates on re-saves or retriggers.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Limitations &amp; Trade-offs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2670048" cy="310896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8229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33856"/>
            <a:ext cx="2670048" cy="3858768"/>
          </a:xfrm>
          <a:prstGeom prst="rect">
            <a:avLst/>
          </a:prstGeom>
          <a:solidFill>
            <a:srgbClr val="F8FA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26187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0700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Request maps to one delivered container and one quoted price — multi-unit orders are out of scope.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85216" y="1901952"/>
            <a:ext cx="245059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" y="201168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5681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org's Lead Status picklist contains at least one IsConverted = true value, which is standard in any Salesforce scratch org or sandbox.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5216" y="2651760"/>
            <a:ext cx="245059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276148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0662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period defaults to 30 days from delivery when Rental_End_Date__c is not explicitly set by the CSR.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5216" y="3401568"/>
            <a:ext cx="245059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3511296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45643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status is the single trigger point for Lead conversion — no partial or staged conversion paths are modelled.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5216" y="4151376"/>
            <a:ext cx="245059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4261104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0624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pricing is flat per container type; no distance, duration, or volume modifiers are needed at MVP.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822960"/>
            <a:ext cx="2670048" cy="310896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822960"/>
            <a:ext cx="54864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8229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1133856"/>
            <a:ext cx="2670048" cy="3858768"/>
          </a:xfrm>
          <a:prstGeom prst="rect">
            <a:avLst/>
          </a:prstGeom>
          <a:solidFill>
            <a:srgbClr val="FFFDF5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74136" y="126187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120700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area is a single boolean flag. No postal-code rules, radius checks, or geocoding — an admin manually marks locations as in/out of area.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74136" y="1901952"/>
            <a:ext cx="2450592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74136" y="201168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195681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has no tiering, duration scaling, or distance component. A $249 flat rate cannot express peak-season surcharges or drop-off fees.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74136" y="2651760"/>
            <a:ext cx="2450592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74136" y="276148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70662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orders (multiple units per customer job) require a junction object or a collection on Opportunity - not modelled here.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74136" y="3401568"/>
            <a:ext cx="2450592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351129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345643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Convert creates a new Account and Contact using Salesforce defaults. Custom field mapping or deduplication rules are not configured.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74136" y="4151376"/>
            <a:ext cx="2450592" cy="0"/>
          </a:xfrm>
          <a:prstGeom prst="line">
            <a:avLst/>
          </a:prstGeom>
          <a:noFill/>
          <a:ln w="6350">
            <a:solidFill>
              <a:srgbClr val="FDE6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4136" y="426110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4206240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Opportunity-native features (CPQ, line items, approval workflows) are unavailable until after Lead Convert fires at Accepted.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35040" y="822960"/>
            <a:ext cx="2670048" cy="31089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822960"/>
            <a:ext cx="54864" cy="31089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8229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1133856"/>
            <a:ext cx="2670048" cy="3858768"/>
          </a:xfrm>
          <a:prstGeom prst="rect">
            <a:avLst/>
          </a:prstGeom>
          <a:solidFill>
            <a:srgbClr val="F7FFFE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63056" y="1261872"/>
            <a:ext cx="73152" cy="731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1207008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over Flow for overlap validation: date-range intersection across records requires SOQL + set logic that is impractical in declarative tools, but it increases the dev surface area and test burden.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63056" y="1901952"/>
            <a:ext cx="2450592" cy="0"/>
          </a:xfrm>
          <a:prstGeom prst="line">
            <a:avLst/>
          </a:prstGeom>
          <a:noFill/>
          <a:ln w="6350">
            <a:solidFill>
              <a:srgbClr val="BBF7D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63056" y="2011680"/>
            <a:ext cx="73152" cy="731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195681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Metadata for pricing: admins can change prices without deployment, but there is no built-in audit trail or approval step for price changes.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63056" y="2651760"/>
            <a:ext cx="2450592" cy="0"/>
          </a:xfrm>
          <a:prstGeom prst="line">
            <a:avLst/>
          </a:prstGeom>
          <a:noFill/>
          <a:ln w="6350">
            <a:solidFill>
              <a:srgbClr val="BBF7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3056" y="2761488"/>
            <a:ext cx="73152" cy="731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270662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created only at acceptance: keeps the pipeline clean and meaningful, but CSRs cannot use Opportunity-linked features (e.g. CPQ, forecasting) during the quoting stage.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63056" y="3401568"/>
            <a:ext cx="2450592" cy="0"/>
          </a:xfrm>
          <a:prstGeom prst="line">
            <a:avLst/>
          </a:prstGeom>
          <a:noFill/>
          <a:ln w="6350">
            <a:solidFill>
              <a:srgbClr val="BBF7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3056" y="3511296"/>
            <a:ext cx="73152" cy="7315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345643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service area flag: rapid to build and easy to demo, but must be replaced with postal-code or geocoding logic before production rollout.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41248"/>
            <a:ext cx="8229600" cy="1417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54864" cy="1417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961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- Happy Path  (5–7 min)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1704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Portable Storage Lead Intake tab → enter name, company, Inquiry Type = Portable Storage Inquiry, container type (e.g. 16 ft), preferred delivery date → submit.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4264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 the new Lead: show the auto-created Container Request in Draft with matching fields (Apex fired).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168249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Quote → pick in-area Service Location, assign inventory unit, confirm dates → save: show Quote_Amount__c from metadata (e.g. $249).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Send Quote flow → status = Quoted → mark Status = Accepted → Opportunity appears, Stage = Closed Won, Primary Container Request linked.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2651760" cy="138988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95728"/>
            <a:ext cx="54864" cy="13898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-  Intake validation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" y="272491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Lead Intake, choose Portable Storage Inquiry but leave container type blank → flow shows required-field screen, blocks Lead creation.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2395728"/>
            <a:ext cx="2651760" cy="138988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395728"/>
            <a:ext cx="54864" cy="13898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-  Out-of-area block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92424" y="272491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Service Location to an out-of-area location on a Draft request, then progress to Quoted → Apex addError blocks save with 'outside our delivery area'.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2395728"/>
            <a:ext cx="2651760" cy="1389888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395728"/>
            <a:ext cx="54864" cy="13898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-  Inventory overlap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81344" y="272491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requests for the same inventory unit with overlapping delivery windows → second save blocked: 'already booked for the selected period'.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8229600" cy="7498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13632"/>
            <a:ext cx="54864" cy="7498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68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  -  Non-portable inquiry  (scope boundary, 1 min)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" y="42062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Lead Intake with any Inquiry Type other than Portable Storage Inquiry → Lead creates, no Container Request. Shows system does not auto-create CR for non-storage leads.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1321</Words>
  <Application>Microsoft Office PowerPoint</Application>
  <PresentationFormat>On-screen Show (16:9)</PresentationFormat>
  <Paragraphs>154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 Thakar</cp:lastModifiedBy>
  <cp:revision>2</cp:revision>
  <dcterms:created xsi:type="dcterms:W3CDTF">2026-04-23T17:11:24Z</dcterms:created>
  <dcterms:modified xsi:type="dcterms:W3CDTF">2026-04-23T17:16:16Z</dcterms:modified>
</cp:coreProperties>
</file>